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8BFA"/>
    <a:srgbClr val="F59E0B"/>
    <a:srgbClr val="10B981"/>
    <a:srgbClr val="EF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1737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A78B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rebuchet MS" pitchFamily="34" charset="-120"/>
              </a:rPr>
              <a:t>TRIPFRAME</a:t>
            </a:r>
            <a:endParaRPr lang="en-US" sz="5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1F5F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rebuchet MS" pitchFamily="34" charset="-120"/>
              </a:rPr>
              <a:t>여행 일정의 빈 칸을 찾아주는 앱</a:t>
            </a:r>
            <a:endParaRPr lang="en-US" sz="28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역산 엔진  ·  공백 감지  ·  이동수단 제안</a:t>
            </a:r>
            <a:endParaRPr lang="en-US" sz="1600" dirty="0">
              <a:solidFill>
                <a:schemeClr val="accent2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0"/>
            <a:ext cx="1097280" cy="10972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286000"/>
            <a:ext cx="731520" cy="73152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560320"/>
            <a:ext cx="640080" cy="64008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1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  |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" panose="020B0502040204020203" pitchFamily="34" charset="0"/>
                <a:ea typeface="Trebuchet MS" pitchFamily="34" charset="-122"/>
                <a:cs typeface="Segoe UI" panose="020B0502040204020203" pitchFamily="34" charset="0"/>
              </a:rPr>
              <a:t>여행자가 풀지 못하는 문제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기존 앱은 '어디서 뭘 할까'를 답합니다. '언제 어떻게 움직여야 하는가'는 아무도 답하지 않습니다.</a:t>
            </a:r>
            <a:endParaRPr lang="en-US" sz="14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91640"/>
            <a:ext cx="457200" cy="457200"/>
          </a:xfrm>
          <a:prstGeom prst="rect">
            <a:avLst/>
          </a:prstGeom>
          <a:solidFill>
            <a:srgbClr val="A78BFA"/>
          </a:solidFill>
        </p:spPr>
      </p:pic>
      <p:sp>
        <p:nvSpPr>
          <p:cNvPr id="7" name="Text 4"/>
          <p:cNvSpPr/>
          <p:nvPr/>
        </p:nvSpPr>
        <p:spPr>
          <a:xfrm>
            <a:off x="1737360" y="15544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"집에서 몇 시에 나가야 하지?"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120640" y="1554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항공사 수속 마감 규정을 모른다</a:t>
            </a:r>
            <a:endParaRPr lang="en-US" sz="1300" dirty="0">
              <a:solidFill>
                <a:schemeClr val="accent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31520" y="2423160"/>
            <a:ext cx="7680960" cy="73152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560320"/>
            <a:ext cx="457200" cy="457200"/>
          </a:xfrm>
          <a:prstGeom prst="rect">
            <a:avLst/>
          </a:prstGeom>
          <a:solidFill>
            <a:srgbClr val="A78BFA"/>
          </a:solidFill>
        </p:spPr>
      </p:pic>
      <p:sp>
        <p:nvSpPr>
          <p:cNvPr id="11" name="Text 7"/>
          <p:cNvSpPr/>
          <p:nvPr/>
        </p:nvSpPr>
        <p:spPr>
          <a:xfrm>
            <a:off x="1737360" y="24231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"숙소 사이 이동 수단을 깜빡했다"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20640" y="24231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예약 공백을 스스로 발견해야 한다</a:t>
            </a:r>
            <a:endParaRPr lang="en-US" sz="1300" dirty="0">
              <a:solidFill>
                <a:schemeClr val="accent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429000"/>
            <a:ext cx="457200" cy="457200"/>
          </a:xfrm>
          <a:prstGeom prst="rect">
            <a:avLst/>
          </a:prstGeom>
          <a:solidFill>
            <a:srgbClr val="A78BFA"/>
          </a:solidFill>
        </p:spPr>
      </p:pic>
      <p:sp>
        <p:nvSpPr>
          <p:cNvPr id="15" name="Text 10"/>
          <p:cNvSpPr/>
          <p:nvPr/>
        </p:nvSpPr>
        <p:spPr>
          <a:xfrm>
            <a:off x="1737360" y="32918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"버스 예약 언제 열리지?"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5120640" y="32918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노선별 오픈 시간을 따로 찾아야 한다</a:t>
            </a:r>
            <a:endParaRPr lang="en-US" sz="1300" dirty="0">
              <a:solidFill>
                <a:schemeClr val="accent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731520" y="4160520"/>
            <a:ext cx="7680960" cy="73152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297680"/>
            <a:ext cx="457200" cy="457200"/>
          </a:xfrm>
          <a:prstGeom prst="rect">
            <a:avLst/>
          </a:prstGeom>
          <a:solidFill>
            <a:srgbClr val="A78BFA"/>
          </a:solidFill>
        </p:spPr>
      </p:pic>
      <p:sp>
        <p:nvSpPr>
          <p:cNvPr id="19" name="Text 13"/>
          <p:cNvSpPr/>
          <p:nvPr/>
        </p:nvSpPr>
        <p:spPr>
          <a:xfrm>
            <a:off x="1737360" y="41605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"패스 사는 게 이득인가?"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512064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실제 이용 구간 기반 비교가 어렵다</a:t>
            </a:r>
            <a:endParaRPr lang="en-US" sz="1300" dirty="0">
              <a:solidFill>
                <a:schemeClr val="accent4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" panose="020B0502040204020203" pitchFamily="34" charset="0"/>
                <a:ea typeface="Trebuchet MS" pitchFamily="34" charset="-122"/>
                <a:cs typeface="Segoe UI" panose="020B0502040204020203" pitchFamily="34" charset="0"/>
              </a:rPr>
              <a:t>TripFrame의 해결책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예약 이벤트 → 타임라인 변환 → 역산 → 공백 감지 → 해결 옵션 제안</a:t>
            </a:r>
            <a:endParaRPr lang="en-US" sz="14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60320" cy="29260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828800"/>
            <a:ext cx="640080" cy="640080"/>
          </a:xfrm>
          <a:prstGeom prst="rect">
            <a:avLst/>
          </a:prstGeom>
          <a:solidFill>
            <a:srgbClr val="A78BFA"/>
          </a:solidFill>
        </p:spPr>
      </p:pic>
      <p:sp>
        <p:nvSpPr>
          <p:cNvPr id="8" name="Text 5"/>
          <p:cNvSpPr/>
          <p:nvPr/>
        </p:nvSpPr>
        <p:spPr>
          <a:xfrm>
            <a:off x="91440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역산 엔진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항공편</a:t>
            </a: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출발</a:t>
            </a: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시간으로부터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집 </a:t>
            </a:r>
            <a:r>
              <a:rPr lang="en-US" sz="1200" dirty="0" err="1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출발</a:t>
            </a: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시간</a:t>
            </a: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accent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역방향</a:t>
            </a:r>
            <a:r>
              <a:rPr lang="en-US" sz="1200" dirty="0">
                <a:solidFill>
                  <a:schemeClr val="accent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accent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계산</a:t>
            </a:r>
            <a:endParaRPr lang="en-US" sz="1200" dirty="0">
              <a:solidFill>
                <a:schemeClr val="accent4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6단계 근거 투명 공개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566160" y="1554480"/>
            <a:ext cx="2560320" cy="29260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828800"/>
            <a:ext cx="640080" cy="640080"/>
          </a:xfrm>
          <a:prstGeom prst="rect">
            <a:avLst/>
          </a:prstGeom>
          <a:solidFill>
            <a:srgbClr val="EF4444"/>
          </a:solidFill>
        </p:spPr>
      </p:pic>
      <p:sp>
        <p:nvSpPr>
          <p:cNvPr id="13" name="Text 9"/>
          <p:cNvSpPr/>
          <p:nvPr/>
        </p:nvSpPr>
        <p:spPr>
          <a:xfrm>
            <a:off x="374904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공백 감지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74904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예약 사이 </a:t>
            </a:r>
            <a:r>
              <a:rPr lang="en-US" sz="1200" dirty="0" err="1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이동수단</a:t>
            </a: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 </a:t>
            </a:r>
            <a:b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</a:br>
            <a:r>
              <a:rPr lang="en-US" sz="1200" dirty="0" err="1">
                <a:solidFill>
                  <a:schemeClr val="accent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누락</a:t>
            </a:r>
            <a:r>
              <a:rPr lang="en-US" sz="1200" dirty="0">
                <a:solidFill>
                  <a:schemeClr val="accent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accent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자동</a:t>
            </a:r>
            <a:r>
              <a:rPr lang="en-US" sz="1200" dirty="0">
                <a:solidFill>
                  <a:schemeClr val="accent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 발견</a:t>
            </a: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 + DANGER/WARNING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빨간 경고 즉시 표시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6400800" y="1554480"/>
            <a:ext cx="2560320" cy="29260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828800"/>
            <a:ext cx="640080" cy="640080"/>
          </a:xfrm>
          <a:prstGeom prst="rect">
            <a:avLst/>
          </a:prstGeom>
          <a:solidFill>
            <a:srgbClr val="10B981"/>
          </a:solidFill>
        </p:spPr>
      </p:pic>
      <p:sp>
        <p:nvSpPr>
          <p:cNvPr id="18" name="Text 13"/>
          <p:cNvSpPr/>
          <p:nvPr/>
        </p:nvSpPr>
        <p:spPr>
          <a:xfrm>
            <a:off x="6583680" y="2606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1F5F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이동수단 제안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6583680" y="306324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구간별 교통수단 비교</a:t>
            </a:r>
            <a:endParaRPr lang="en-US" sz="1200" dirty="0">
              <a:solidFill>
                <a:schemeClr val="accent4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요금·시간·편의성 카드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예약 링크 + 인원 반영 비용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13"/>
                </a:solidFill>
                <a:latin typeface="Segoe UI" panose="020B0502040204020203" pitchFamily="34" charset="0"/>
                <a:ea typeface="Trebuchet MS" pitchFamily="34" charset="-122"/>
                <a:cs typeface="Segoe UI" panose="020B0502040204020203" pitchFamily="34" charset="0"/>
              </a:rPr>
              <a:t>시장 기회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7C3AED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$16.2B</a:t>
            </a:r>
            <a:endParaRPr lang="en-US" sz="3600" dirty="0">
              <a:latin typeface="Segoe UI Variable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글로벌 여행 앱 시장 (2026)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06040" y="118872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606040" y="12801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F6E56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15.6%</a:t>
            </a:r>
            <a:endParaRPr lang="en-US" sz="3600" dirty="0">
              <a:latin typeface="Segoe UI Variable Display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0604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CAGR (2026-2035)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801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85A30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41%</a:t>
            </a:r>
            <a:endParaRPr lang="en-US" sz="3600" dirty="0">
              <a:latin typeface="Segoe UI Variable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아시아-태평양 점유율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03720" y="1188720"/>
            <a:ext cx="196596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28016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F4444"/>
                </a:solidFill>
                <a:latin typeface="Segoe UI Variable Text" pitchFamily="2" charset="0"/>
                <a:ea typeface="Trebuchet MS" pitchFamily="34" charset="-122"/>
                <a:cs typeface="Trebuchet MS" pitchFamily="34" charset="-120"/>
              </a:rPr>
              <a:t>0개</a:t>
            </a:r>
            <a:endParaRPr lang="en-US" sz="3600" dirty="0">
              <a:latin typeface="Segoe UI Variable Text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0372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Pre-departure 특화 경쟁 앱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3017520"/>
            <a:ext cx="768096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058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0F13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Trebuchet MS" pitchFamily="34" charset="-120"/>
              </a:rPr>
              <a:t>한국 여행 앱 시장 현황</a:t>
            </a:r>
            <a:endParaRPr lang="en-US" sz="16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489214"/>
              </p:ext>
            </p:extLst>
          </p:nvPr>
        </p:nvGraphicFramePr>
        <p:xfrm>
          <a:off x="1005840" y="3520440"/>
          <a:ext cx="7132320" cy="10363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앱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핵심 가치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TripFrame과 겹침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마이리얼트립 (MAU 500만)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항공·숙박·투어 예약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겹침 없음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트리플 (MAU 300만+)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일정 편집 + 리뷰 + 예약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일정 편집 부분 겹침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TripIt (글로벌)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예약 메일 자동 파싱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일정 정리 부분 겹침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" panose="020B0502040204020203" pitchFamily="34" charset="0"/>
                <a:ea typeface="Trebuchet MS" pitchFamily="34" charset="-122"/>
                <a:cs typeface="Segoe UI" panose="020B0502040204020203" pitchFamily="34" charset="0"/>
              </a:rPr>
              <a:t>수익 모델: 3단 퍼널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25880"/>
            <a:ext cx="548640" cy="548640"/>
          </a:xfrm>
          <a:prstGeom prst="rect">
            <a:avLst/>
          </a:prstGeom>
          <a:solidFill>
            <a:srgbClr val="10B981"/>
          </a:solidFill>
        </p:spPr>
      </p:pic>
      <p:sp>
        <p:nvSpPr>
          <p:cNvPr id="7" name="Text 4"/>
          <p:cNvSpPr/>
          <p:nvPr/>
        </p:nvSpPr>
        <p:spPr>
          <a:xfrm>
            <a:off x="1920240" y="1097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Layer 1: Affiliate</a:t>
            </a:r>
            <a:endParaRPr lang="en-US" sz="1800" dirty="0">
              <a:latin typeface="Segoe UI Variable Display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920240" y="16957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교통 예약 수수료</a:t>
            </a:r>
            <a:endParaRPr lang="en-US" sz="1300" dirty="0">
              <a:solidFill>
                <a:schemeClr val="accent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9" name="Text 6"/>
          <p:cNvSpPr/>
          <p:nvPr/>
        </p:nvSpPr>
        <p:spPr>
          <a:xfrm>
            <a:off x="5029200" y="10972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예약 건당 1,000~1,500원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(bookingUrl 이미 구현)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731520" y="237744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606040"/>
            <a:ext cx="548640" cy="548640"/>
          </a:xfrm>
          <a:prstGeom prst="rect">
            <a:avLst/>
          </a:prstGeom>
          <a:solidFill>
            <a:srgbClr val="F59E0B"/>
          </a:solidFill>
        </p:spPr>
      </p:pic>
      <p:sp>
        <p:nvSpPr>
          <p:cNvPr id="13" name="Text 9"/>
          <p:cNvSpPr/>
          <p:nvPr/>
        </p:nvSpPr>
        <p:spPr>
          <a:xfrm>
            <a:off x="192024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Layer 2: Insurance</a:t>
            </a:r>
            <a:endParaRPr lang="en-US" sz="1800" dirty="0">
              <a:latin typeface="Segoe UI Variable Display" pitchFamily="2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1920240" y="29713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여행 보험 연계</a:t>
            </a:r>
            <a:endParaRPr lang="en-US" sz="1300" dirty="0">
              <a:solidFill>
                <a:schemeClr val="accent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5029200" y="23774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보험료의 15~25%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또는 리드당 3,000~5,000원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731520" y="3657600"/>
            <a:ext cx="73152" cy="1097280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886200"/>
            <a:ext cx="548640" cy="548640"/>
          </a:xfrm>
          <a:prstGeom prst="rect">
            <a:avLst/>
          </a:prstGeom>
          <a:solidFill>
            <a:srgbClr val="A78BFA"/>
          </a:solidFill>
        </p:spPr>
      </p:pic>
      <p:sp>
        <p:nvSpPr>
          <p:cNvPr id="19" name="Text 14"/>
          <p:cNvSpPr/>
          <p:nvPr/>
        </p:nvSpPr>
        <p:spPr>
          <a:xfrm>
            <a:off x="1920240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F1F5F9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Layer 3: Freemium</a:t>
            </a:r>
            <a:endParaRPr lang="en-US" sz="1800" dirty="0">
              <a:latin typeface="Segoe UI Variable Display" pitchFamily="2" charset="0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920240" y="423785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Pro 구독 (월 2,900원)</a:t>
            </a:r>
            <a:endParaRPr lang="en-US" sz="1300" dirty="0">
              <a:solidFill>
                <a:schemeClr val="accent6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5029200" y="36576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무제한 여행 + 클라우드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+ 자동 입력 + D-day 알림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13"/>
                </a:solidFill>
                <a:latin typeface="Segoe UI" panose="020B0502040204020203" pitchFamily="34" charset="0"/>
                <a:ea typeface="Trebuchet MS" pitchFamily="34" charset="-122"/>
                <a:cs typeface="Segoe UI" panose="020B0502040204020203" pitchFamily="34" charset="0"/>
              </a:rPr>
              <a:t>듀얼 트랙 전략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@tripframe/core 플랫폼 독립 엔진으로 두 가지 수익 경로를 동시 추구</a:t>
            </a:r>
            <a:endParaRPr lang="en-US" sz="14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463040"/>
            <a:ext cx="36576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Track A: B2C 소비자 앱</a:t>
            </a:r>
            <a:endParaRPr lang="en-US" sz="1800" dirty="0">
              <a:latin typeface="Segoe UI Variable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0584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Phase 4~6  |  지금~6개월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05840" y="2377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D-day 위젯 (항상 켜진 접점)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Affiliate 교통 예약 수수료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보험 연계 수수료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Pro 구독 (월 2,900원)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Import/Export 데이터 브리지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657600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3657600" cy="54864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Track B: B2B 엔진 API</a:t>
            </a:r>
            <a:endParaRPr lang="en-US" sz="1800" dirty="0">
              <a:latin typeface="Segoe UI Variable Display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2920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Phase 7+  |  6개월~1년</a:t>
            </a:r>
            <a:endParaRPr lang="en-US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29200" y="2377440"/>
            <a:ext cx="3108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OTA 통합 (역산 API)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여행사 화이트레이블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기업 출장 도구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API 콜 기반 과금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540000" indent="-342900">
              <a:lnSpc>
                <a:spcPct val="150000"/>
              </a:lnSpc>
              <a:buSzPct val="100000"/>
              <a:buFont typeface="Wingdings" panose="05000000000000000000" pitchFamily="2" charset="2"/>
              <a:buChar char="ü"/>
            </a:pPr>
            <a:r>
              <a:rPr lang="en-US" sz="1300" dirty="0">
                <a:solidFill>
                  <a:srgbClr val="374151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교통 데이터 라이선싱</a:t>
            </a:r>
            <a:endParaRPr lang="en-US" sz="13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" panose="020B0502040204020203" pitchFamily="34" charset="0"/>
                <a:ea typeface="Trebuchet MS" pitchFamily="34" charset="-122"/>
                <a:cs typeface="Segoe UI" panose="020B0502040204020203" pitchFamily="34" charset="0"/>
              </a:rPr>
              <a:t>방어 전략: 3중 해자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25880"/>
            <a:ext cx="548640" cy="548640"/>
          </a:xfrm>
          <a:prstGeom prst="rect">
            <a:avLst/>
          </a:prstGeom>
          <a:solidFill>
            <a:srgbClr val="A78BFA"/>
          </a:solidFill>
        </p:spPr>
      </p:pic>
      <p:sp>
        <p:nvSpPr>
          <p:cNvPr id="6" name="Text 3"/>
          <p:cNvSpPr/>
          <p:nvPr/>
        </p:nvSpPr>
        <p:spPr>
          <a:xfrm>
            <a:off x="1920240" y="960803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교통 데이터 축적</a:t>
            </a:r>
            <a:endParaRPr lang="en-US" sz="1800" dirty="0">
              <a:solidFill>
                <a:schemeClr val="accent4"/>
              </a:solidFill>
              <a:latin typeface="Segoe UI Variable Display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920240" y="149079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사용자 실제 이용 데이터 크라우드소싱.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시간이 지날수록 모방 비용 기하급수 증가.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" name="Shape 5"/>
          <p:cNvSpPr/>
          <p:nvPr/>
        </p:nvSpPr>
        <p:spPr>
          <a:xfrm>
            <a:off x="6858000" y="118872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2D2455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0" y="1188720"/>
            <a:ext cx="1371600" cy="32004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시간에 비례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606040"/>
            <a:ext cx="548640" cy="548640"/>
          </a:xfrm>
          <a:prstGeom prst="rect">
            <a:avLst/>
          </a:prstGeom>
          <a:solidFill>
            <a:srgbClr val="A78BFA"/>
          </a:solidFill>
        </p:spPr>
      </p:pic>
      <p:sp>
        <p:nvSpPr>
          <p:cNvPr id="12" name="Text 8"/>
          <p:cNvSpPr/>
          <p:nvPr/>
        </p:nvSpPr>
        <p:spPr>
          <a:xfrm>
            <a:off x="1920240" y="2240963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Import/Export 브리지</a:t>
            </a:r>
            <a:endParaRPr lang="en-US" sz="1800" dirty="0">
              <a:solidFill>
                <a:schemeClr val="accent4"/>
              </a:solidFill>
              <a:latin typeface="Segoe UI Variable Display" pitchFamily="2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1920240" y="277095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TripFrame을 '일정의 원천'으로 만들어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다른 앱과의 데이터 교환 허브 역할.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858000" y="246888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2D2455"/>
          </a:solidFill>
          <a:ln/>
        </p:spPr>
      </p:sp>
      <p:sp>
        <p:nvSpPr>
          <p:cNvPr id="15" name="Text 11"/>
          <p:cNvSpPr/>
          <p:nvPr/>
        </p:nvSpPr>
        <p:spPr>
          <a:xfrm>
            <a:off x="6858000" y="2468880"/>
            <a:ext cx="1371600" cy="32004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네트워크 효과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886200"/>
            <a:ext cx="548640" cy="548640"/>
          </a:xfrm>
          <a:prstGeom prst="rect">
            <a:avLst/>
          </a:prstGeom>
          <a:solidFill>
            <a:srgbClr val="A78BFA"/>
          </a:solidFill>
        </p:spPr>
      </p:pic>
      <p:sp>
        <p:nvSpPr>
          <p:cNvPr id="18" name="Text 13"/>
          <p:cNvSpPr/>
          <p:nvPr/>
        </p:nvSpPr>
        <p:spPr>
          <a:xfrm>
            <a:off x="1920240" y="3521123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오프라인 우선 아키텍처</a:t>
            </a:r>
            <a:endParaRPr lang="en-US" sz="1800" dirty="0">
              <a:solidFill>
                <a:schemeClr val="accent4"/>
              </a:solidFill>
              <a:latin typeface="Segoe UI Variable Display" pitchFamily="2" charset="0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920240" y="405111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비행기·해외 로밍 제한에서도 핵심 기능 동작.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Calibri" pitchFamily="34" charset="-120"/>
              </a:rPr>
              <a:t>서버 의존 슈퍼 앱의 전환 비용 매우 높음.</a:t>
            </a:r>
            <a:endParaRPr lang="en-US" sz="1200" dirty="0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6858000" y="374904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2D2455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0" y="3749040"/>
            <a:ext cx="1371600" cy="32004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 비용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0F13"/>
                </a:solidFill>
                <a:latin typeface="Segoe UI" panose="020B0502040204020203" pitchFamily="34" charset="0"/>
                <a:ea typeface="Trebuchet MS" pitchFamily="34" charset="-122"/>
                <a:cs typeface="Segoe UI" panose="020B0502040204020203" pitchFamily="34" charset="0"/>
              </a:rPr>
              <a:t>개발 현황 &amp; 기술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C3AED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>
              <a:latin typeface="Segoe UI Variable Display" pitchFamily="2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751237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Phase 완료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0B981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86</a:t>
            </a:r>
            <a:endParaRPr lang="en-US" sz="4000" dirty="0">
              <a:latin typeface="Segoe UI Variable Display" pitchFamily="2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606040" y="1751237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E2E 테스트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100% 통과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6E56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85+</a:t>
            </a:r>
            <a:endParaRPr lang="en-US" sz="4000" dirty="0">
              <a:latin typeface="Segoe UI Variable Display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0" y="1751237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기능 요구사항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추적 관리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965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85A30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3.75</a:t>
            </a:r>
            <a:endParaRPr lang="en-US" sz="4000" dirty="0">
              <a:latin typeface="Segoe UI Variable Display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03720" y="1751237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전문가 리뷰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종합 /5.0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31520" y="2743200"/>
            <a:ext cx="768096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385481" y="2734562"/>
            <a:ext cx="7061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0F13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Segoe UI" panose="020B0502040204020203" pitchFamily="34" charset="0"/>
              </a:rPr>
              <a:t>기술 스택</a:t>
            </a:r>
            <a:endParaRPr lang="en-US" sz="1400" dirty="0">
              <a:latin typeface="KoPub돋움체 Bold" panose="02020603020101020101" pitchFamily="18" charset="-127"/>
              <a:ea typeface="KoPub돋움체 Bold" panose="02020603020101020101" pitchFamily="18" charset="-127"/>
              <a:cs typeface="Segoe UI" panose="020B0502040204020203" pitchFamily="34" charset="0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630581"/>
              </p:ext>
            </p:extLst>
          </p:nvPr>
        </p:nvGraphicFramePr>
        <p:xfrm>
          <a:off x="1005840" y="3095766"/>
          <a:ext cx="7132320" cy="15544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영역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기술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비고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모바일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React Native (Expo SDK 54+)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iOS/Android 동시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코어 엔진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TypeScript strict (순수 함수)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외부 의존성 0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백엔드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Supabase (PostgreSQL + RLS)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인증 + 동기화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모노레포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pnpm workspaces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Core 독립 배포 가능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테스트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Jest + Playwright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Calibri" pitchFamily="34" charset="-120"/>
                        </a:rPr>
                        <a:t>86건 100% 통과</a:t>
                      </a:r>
                      <a:endParaRPr lang="en-US" sz="1100" dirty="0"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4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Segoe UI" panose="020B0502040204020203" pitchFamily="34" charset="0"/>
                <a:ea typeface="Trebuchet MS" pitchFamily="34" charset="-122"/>
                <a:cs typeface="Segoe UI" panose="020B0502040204020203" pitchFamily="34" charset="0"/>
              </a:rPr>
              <a:t>로드맵</a:t>
            </a:r>
            <a:endParaRPr lang="en-US" sz="3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2286000"/>
            <a:ext cx="76809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148840"/>
            <a:ext cx="274320" cy="2743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914400"/>
            <a:ext cx="1965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Phase 1~3</a:t>
            </a:r>
            <a:endParaRPr lang="en-US" sz="1400" dirty="0">
              <a:latin typeface="Segoe UI Variable Display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133907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65388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Segoe UI Variable Display" pitchFamily="2" charset="0"/>
                <a:ea typeface="Calibri" pitchFamily="34" charset="-122"/>
                <a:cs typeface="Calibri" pitchFamily="34" charset="-120"/>
              </a:rPr>
              <a:t>✅ 완료</a:t>
            </a:r>
            <a:endParaRPr lang="en-US" sz="1100" dirty="0">
              <a:latin typeface="Segoe UI Variable Display" pitchFamily="2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965960" cy="1005840"/>
          </a:xfrm>
          <a:prstGeom prst="rect">
            <a:avLst/>
          </a:prstGeom>
          <a:solidFill>
            <a:srgbClr val="22222E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517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MVP 완성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역산+공백+CRUD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E2E 86건 100%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383280" y="214884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3" name="Shape 11"/>
          <p:cNvSpPr/>
          <p:nvPr/>
        </p:nvSpPr>
        <p:spPr>
          <a:xfrm>
            <a:off x="2606040" y="914400"/>
            <a:ext cx="1965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06040" y="914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Phase 4</a:t>
            </a:r>
            <a:endParaRPr lang="en-US" sz="1400" dirty="0">
              <a:latin typeface="Segoe UI Variable Display" pitchFamily="2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606040" y="133907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2026.04~05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2606040" y="165388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Segoe UI Variable Display" pitchFamily="2" charset="0"/>
                <a:ea typeface="Calibri" pitchFamily="34" charset="-122"/>
                <a:cs typeface="Calibri" pitchFamily="34" charset="-120"/>
              </a:rPr>
              <a:t>🛠 진행 예정</a:t>
            </a:r>
            <a:endParaRPr lang="en-US" sz="1100" dirty="0">
              <a:latin typeface="Segoe UI Variable Display" pitchFamily="2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606040" y="2651760"/>
            <a:ext cx="1965960" cy="1005840"/>
          </a:xfrm>
          <a:prstGeom prst="rect">
            <a:avLst/>
          </a:prstGeom>
          <a:solidFill>
            <a:srgbClr val="22222E"/>
          </a:solidFill>
          <a:ln/>
        </p:spPr>
      </p:sp>
      <p:sp>
        <p:nvSpPr>
          <p:cNvPr id="18" name="Text 16"/>
          <p:cNvSpPr/>
          <p:nvPr/>
        </p:nvSpPr>
        <p:spPr>
          <a:xfrm>
            <a:off x="2606040" y="26517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설정 실기능화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OAuth 수정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온보딩+보안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532120" y="2148840"/>
            <a:ext cx="274320" cy="2743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914400"/>
            <a:ext cx="1965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914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Phase 5~6</a:t>
            </a:r>
            <a:endParaRPr lang="en-US" sz="1400" dirty="0">
              <a:latin typeface="Segoe UI Variable Display" pitchFamily="2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54880" y="133907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2026.06~09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4754880" y="165388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Segoe UI Variable Display" pitchFamily="2" charset="0"/>
                <a:ea typeface="Calibri" pitchFamily="34" charset="-122"/>
                <a:cs typeface="Calibri" pitchFamily="34" charset="-120"/>
              </a:rPr>
              <a:t>📋 계획</a:t>
            </a:r>
            <a:endParaRPr lang="en-US" sz="1100" dirty="0">
              <a:latin typeface="Segoe UI Variable Display" pitchFamily="2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2651760"/>
            <a:ext cx="1965960" cy="1005840"/>
          </a:xfrm>
          <a:prstGeom prst="rect">
            <a:avLst/>
          </a:prstGeom>
          <a:solidFill>
            <a:srgbClr val="22222E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6517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D-day 위젯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Import/Export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앱 스토어 출시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680960" y="2148840"/>
            <a:ext cx="274320" cy="27432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7" name="Shape 25"/>
          <p:cNvSpPr/>
          <p:nvPr/>
        </p:nvSpPr>
        <p:spPr>
          <a:xfrm>
            <a:off x="6903720" y="914400"/>
            <a:ext cx="196596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03720" y="9144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6E56"/>
                </a:solidFill>
                <a:latin typeface="Segoe UI Variable Display" pitchFamily="2" charset="0"/>
                <a:ea typeface="Trebuchet MS" pitchFamily="34" charset="-122"/>
                <a:cs typeface="Trebuchet MS" pitchFamily="34" charset="-120"/>
              </a:rPr>
              <a:t>Phase 7+</a:t>
            </a:r>
            <a:endParaRPr lang="en-US" sz="1400" dirty="0">
              <a:latin typeface="Segoe UI Variable Display" pitchFamily="2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03720" y="133907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2026.10~</a:t>
            </a:r>
            <a:endParaRPr lang="en-US" sz="1000" dirty="0">
              <a:solidFill>
                <a:schemeClr val="accent4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6903720" y="165388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6E56"/>
                </a:solidFill>
                <a:latin typeface="Segoe UI Variable Display" pitchFamily="2" charset="0"/>
                <a:ea typeface="Calibri" pitchFamily="34" charset="-122"/>
                <a:cs typeface="Calibri" pitchFamily="34" charset="-120"/>
              </a:rPr>
              <a:t>🌐 비전</a:t>
            </a:r>
            <a:endParaRPr lang="en-US" sz="1100" dirty="0">
              <a:latin typeface="Segoe UI Variable Display" pitchFamily="2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903720" y="2651760"/>
            <a:ext cx="1965960" cy="1005840"/>
          </a:xfrm>
          <a:prstGeom prst="rect">
            <a:avLst/>
          </a:prstGeom>
          <a:solidFill>
            <a:srgbClr val="22222E"/>
          </a:solidFill>
          <a:ln/>
        </p:spPr>
      </p:sp>
      <p:sp>
        <p:nvSpPr>
          <p:cNvPr id="32" name="Text 30"/>
          <p:cNvSpPr/>
          <p:nvPr/>
        </p:nvSpPr>
        <p:spPr>
          <a:xfrm>
            <a:off x="6903720" y="2651760"/>
            <a:ext cx="1965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B2B API 출시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교통 데이터 확장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글로벌 진출</a:t>
            </a:r>
            <a:endParaRPr lang="en-US" sz="11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A78BFA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rebuchet MS" pitchFamily="34" charset="-120"/>
              </a:rPr>
              <a:t>TRIPFRAME</a:t>
            </a:r>
            <a:endParaRPr lang="en-US" sz="48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Calibri" pitchFamily="34" charset="-120"/>
              </a:rPr>
              <a:t>여행자가 놓치는 '이동 준비'를 답하는 유일한 앱</a:t>
            </a:r>
            <a:endParaRPr lang="en-US" sz="2000" dirty="0"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0" y="3108960"/>
            <a:ext cx="4572000" cy="1097280"/>
          </a:xfrm>
          <a:prstGeom prst="rect">
            <a:avLst/>
          </a:prstGeom>
          <a:solidFill>
            <a:srgbClr val="22222E"/>
          </a:solidFill>
          <a:ln/>
          <a:effectLst>
            <a:outerShdw blurRad="1016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0" y="3108960"/>
            <a:ext cx="457200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GitHub: </a:t>
            </a:r>
            <a:r>
              <a:rPr lang="en-US" sz="1400" b="1" dirty="0">
                <a:solidFill>
                  <a:srgbClr val="A78BF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github.com/yes0204/TripFrame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60320" y="3657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Contact: </a:t>
            </a:r>
            <a:r>
              <a:rPr lang="en-US" sz="1400" b="1" dirty="0">
                <a:solidFill>
                  <a:srgbClr val="A78BFA"/>
                </a:solidFill>
                <a:latin typeface="Segoe UI" panose="020B0502040204020203" pitchFamily="34" charset="0"/>
                <a:ea typeface="Calibri" pitchFamily="34" charset="-122"/>
                <a:cs typeface="Segoe UI" panose="020B0502040204020203" pitchFamily="34" charset="0"/>
              </a:rPr>
              <a:t>sol@tripframe.app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2026.03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630</Words>
  <Application>Microsoft Office PowerPoint</Application>
  <PresentationFormat>화면 슬라이드 쇼(16:9)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21" baseType="lpstr">
      <vt:lpstr>KoPub돋움체 Bold</vt:lpstr>
      <vt:lpstr>KoPub돋움체 Medium</vt:lpstr>
      <vt:lpstr>Noto Sans KR</vt:lpstr>
      <vt:lpstr>Arial</vt:lpstr>
      <vt:lpstr>Calibri</vt:lpstr>
      <vt:lpstr>Segoe UI</vt:lpstr>
      <vt:lpstr>Segoe UI Variable Display</vt:lpstr>
      <vt:lpstr>Segoe UI Variable Text</vt:lpstr>
      <vt:lpstr>Trebuchet MS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TripFrame Pitch Deck</dc:title>
  <dc:subject>PptxGenJS Presentation</dc:subject>
  <dc:creator>TripFrame</dc:creator>
  <cp:lastModifiedBy>은수 윤</cp:lastModifiedBy>
  <cp:revision>3</cp:revision>
  <dcterms:created xsi:type="dcterms:W3CDTF">2026-03-29T03:59:23Z</dcterms:created>
  <dcterms:modified xsi:type="dcterms:W3CDTF">2026-03-29T04:28:00Z</dcterms:modified>
</cp:coreProperties>
</file>